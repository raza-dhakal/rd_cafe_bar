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Change in food waste, FY2023</c:v>
                </c:pt>
              </c:strCache>
            </c:strRef>
          </c:tx>
          <c:spPr>
            <a:solidFill>
              <a:srgbClr val="8A837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C9A84C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C9A84C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C9A84C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8A8375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Manufacturers</c:v>
                  </c:pt>
                  <c:pt idx="1">
                    <c:v>Packaging</c:v>
                  </c:pt>
                  <c:pt idx="2">
                    <c:v>Retail</c:v>
                  </c:pt>
                  <c:pt idx="3">
                    <c:v>Restaurants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-2.1</c:v>
                </c:pt>
                <c:pt idx="1">
                  <c:v>-1.4</c:v>
                </c:pt>
                <c:pt idx="2">
                  <c:v>-1.8</c:v>
                </c:pt>
                <c:pt idx="3">
                  <c:v>10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F5EDD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3A342B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800" b="0" i="0" u="none" strike="noStrike">
                    <a:solidFill>
                      <a:srgbClr val="8A8375"/>
                    </a:solidFill>
                    <a:latin typeface="Arial"/>
                  </a:defRPr>
                </a:pPr>
                <a:r>
                  <a:rPr sz="800" b="0" i="0" u="none" strike="noStrike">
                    <a:solidFill>
                      <a:srgbClr val="8A8375"/>
                    </a:solidFill>
                    <a:latin typeface="Arial"/>
                  </a:rPr>
                  <a:t>% change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8A837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E0B08"/>
        </a:solidFill>
        <a:ln>
          <a:noFill/>
        </a:ln>
        <a:effectLst/>
      </c:spPr>
    </c:plotArea>
    <c:plotVisOnly val="1"/>
    <c:dispBlanksAs val="span"/>
  </c:chart>
  <c:spPr>
    <a:solidFill>
      <a:srgbClr val="0E0B08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calm. 'This is not a slide deck about an idea. Everything I show you today is live on the internet right now.'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Pause after 411. Let it sit. Then: 'their kitchens were full of food nobody ate.'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Aging population. Young people reject 3K jobs. This is structural — it will not fix itself.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wedge. Every sector improved except foodservice. MAFF itself says it is working to address foodservice. That is our market, named by the government.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Sense, predict, plan, act. The last step is what makes this a product and not a dashboard.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SPEND TIME HERE. Do the city switch live. This single interaction is worth more than every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vision but end on the ask. Be specific about what you want.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0B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69164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spc="300" kern="0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RD CAFÉ AI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731520" y="26060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F5ED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restaurant that knows tomorrow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" y="320040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8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Weather-driven demand forecasting and automatic purchasing for Japan's small restaurants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31520" y="416052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Rajan Dhakal   ·   rd-cafe-bar.vercel.app   ·   Live working prototype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E0B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05156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411</a:t>
            </a:r>
            <a:endParaRPr lang="en-US" sz="9600" dirty="0"/>
          </a:p>
        </p:txBody>
      </p:sp>
      <p:sp>
        <p:nvSpPr>
          <p:cNvPr id="3" name="Text 1"/>
          <p:cNvSpPr/>
          <p:nvPr/>
        </p:nvSpPr>
        <p:spPr>
          <a:xfrm>
            <a:off x="731520" y="237744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E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restaurants in Japan went bankrupt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5E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just five months.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731520" y="33375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A837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record. And rising.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846320" y="1051560"/>
            <a:ext cx="3657600" cy="2651760"/>
          </a:xfrm>
          <a:prstGeom prst="rect">
            <a:avLst/>
          </a:prstGeom>
          <a:solidFill>
            <a:srgbClr val="1A1510"/>
          </a:solidFill>
          <a:ln w="6350">
            <a:solidFill>
              <a:srgbClr val="C9A84C">
                <a:alpha val="18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166360" y="141732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Their kitchens were full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 food nobody ate.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166360" y="246888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E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Bankruptcies tied to labor shortage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doubled year-on-year.</a:t>
            </a:r>
            <a:endParaRPr lang="en-US" sz="12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5E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Cases caused by soaring labor costs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surged 6.6-fold.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4343400"/>
            <a:ext cx="7680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Tokyo Shoko Research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0B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ONE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F5ED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There is nobody left to hire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2514600" cy="1417320"/>
          </a:xfrm>
          <a:prstGeom prst="rect">
            <a:avLst/>
          </a:prstGeom>
          <a:solidFill>
            <a:srgbClr val="1A1510"/>
          </a:solidFill>
          <a:ln w="6350">
            <a:solidFill>
              <a:srgbClr val="C9A84C">
                <a:alpha val="18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92024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86%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31520" y="260604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5E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restaurant owners report a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5E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 shortage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310128" y="1783080"/>
            <a:ext cx="2514600" cy="1417320"/>
          </a:xfrm>
          <a:prstGeom prst="rect">
            <a:avLst/>
          </a:prstGeom>
          <a:solidFill>
            <a:srgbClr val="1A1510"/>
          </a:solidFill>
          <a:ln w="6350">
            <a:solidFill>
              <a:srgbClr val="C9A84C">
                <a:alpha val="18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93008" y="192024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41%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3493008" y="260604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5E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staff leave every single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5E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071616" y="1783080"/>
            <a:ext cx="2514600" cy="1417320"/>
          </a:xfrm>
          <a:prstGeom prst="rect">
            <a:avLst/>
          </a:prstGeom>
          <a:solidFill>
            <a:srgbClr val="1A1510"/>
          </a:solidFill>
          <a:ln w="6350">
            <a:solidFill>
              <a:srgbClr val="C9A84C">
                <a:alpha val="18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54496" y="192024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6.4M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6254496" y="260604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5E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 shortfall Japan faces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5E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2040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48640" y="35204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5ED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owner who once had a manager doing the ordering now does it alone, at midnight, from memory.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48640" y="4370832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industry surveys 2023–2026; government workforce projection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E0B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TWO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F5ED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sector is going backwards</a:t>
            </a:r>
            <a:endParaRPr lang="en-US" sz="3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00200"/>
          <a:ext cx="4846320" cy="2514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669280" y="1600200"/>
            <a:ext cx="2926080" cy="2514600"/>
          </a:xfrm>
          <a:prstGeom prst="rect">
            <a:avLst/>
          </a:prstGeom>
          <a:solidFill>
            <a:srgbClr val="1A1510"/>
          </a:solidFill>
          <a:ln w="6350">
            <a:solidFill>
              <a:srgbClr val="C9A84C">
                <a:alpha val="1800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943600" y="178308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660,000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5943600" y="233172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5E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tons of food thrown away by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5E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restaurants each year —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5943600" y="28803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8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60,000 tons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943600" y="324612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 every other food sector cut its waste. Japan's target: minus 60%.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548640" y="431596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waste costs Japan ¥4 trillion and 10.5 million tons of CO₂ every year.        Source: MAFF, FY2023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E0B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F5ED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Ordering by intuition, at midnight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886200" cy="1737360"/>
          </a:xfrm>
          <a:prstGeom prst="rect">
            <a:avLst/>
          </a:prstGeom>
          <a:solidFill>
            <a:srgbClr val="241E15"/>
          </a:solidFill>
          <a:ln w="6350">
            <a:solidFill>
              <a:srgbClr val="C9A84C">
                <a:alpha val="18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20116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D980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Order too much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68680" y="251460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E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Milk spoils. Cake goes stale.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5E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Money straight into the bin.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09160" y="1783080"/>
            <a:ext cx="3886200" cy="1737360"/>
          </a:xfrm>
          <a:prstGeom prst="rect">
            <a:avLst/>
          </a:prstGeom>
          <a:solidFill>
            <a:srgbClr val="241E15"/>
          </a:solidFill>
          <a:ln w="6350">
            <a:solidFill>
              <a:srgbClr val="C9A84C">
                <a:alpha val="18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0" y="20116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D980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Order too little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5029200" y="251460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E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Items sell out by 2pm.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5E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revenue. Lost customers.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37490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5ED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Large chains have data teams for this. </a:t>
            </a:r>
            <a:pPr indent="0" marL="0">
              <a:buNone/>
            </a:pPr>
            <a:r>
              <a:rPr lang="en-US" sz="1500" b="1" i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five-person café has nobody.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48640" y="431596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68% of Japan's 2.15 million food establishments have 1–5 employees. That is our customer.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E0B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F5ED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café that plans its own tomorrow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828800" cy="2011680"/>
          </a:xfrm>
          <a:prstGeom prst="rect">
            <a:avLst/>
          </a:prstGeom>
          <a:solidFill>
            <a:srgbClr val="1A1510"/>
          </a:solidFill>
          <a:ln w="6350">
            <a:solidFill>
              <a:srgbClr val="C9A84C">
                <a:alpha val="1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61872" y="1965960"/>
            <a:ext cx="411480" cy="411480"/>
          </a:xfrm>
          <a:prstGeom prst="ellipse">
            <a:avLst/>
          </a:prstGeom>
          <a:solidFill>
            <a:srgbClr val="C9A84C"/>
          </a:solidFill>
          <a:ln/>
        </p:spPr>
      </p:sp>
      <p:sp>
        <p:nvSpPr>
          <p:cNvPr id="6" name="Text 4"/>
          <p:cNvSpPr/>
          <p:nvPr/>
        </p:nvSpPr>
        <p:spPr>
          <a:xfrm>
            <a:off x="1261872" y="19659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0B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85800" y="25146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85800" y="288036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5E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weather,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5E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of week,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5E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 sales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606040" y="1783080"/>
            <a:ext cx="1828800" cy="2011680"/>
          </a:xfrm>
          <a:prstGeom prst="rect">
            <a:avLst/>
          </a:prstGeom>
          <a:solidFill>
            <a:srgbClr val="1A1510"/>
          </a:solidFill>
          <a:ln w="6350">
            <a:solidFill>
              <a:srgbClr val="C9A84C">
                <a:alpha val="1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319272" y="1965960"/>
            <a:ext cx="411480" cy="411480"/>
          </a:xfrm>
          <a:prstGeom prst="ellipse">
            <a:avLst/>
          </a:prstGeom>
          <a:solidFill>
            <a:srgbClr val="C9A84C"/>
          </a:solidFill>
          <a:ln/>
        </p:spPr>
      </p:sp>
      <p:sp>
        <p:nvSpPr>
          <p:cNvPr id="11" name="Text 9"/>
          <p:cNvSpPr/>
          <p:nvPr/>
        </p:nvSpPr>
        <p:spPr>
          <a:xfrm>
            <a:off x="3319272" y="19659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0B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743200" y="25146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743200" y="288036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5E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309 guests.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5E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 coffee +44%.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5E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 coffee −25%.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663440" y="1783080"/>
            <a:ext cx="1828800" cy="2011680"/>
          </a:xfrm>
          <a:prstGeom prst="rect">
            <a:avLst/>
          </a:prstGeom>
          <a:solidFill>
            <a:srgbClr val="1A1510"/>
          </a:solidFill>
          <a:ln w="6350">
            <a:solidFill>
              <a:srgbClr val="C9A84C">
                <a:alpha val="18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376672" y="1965960"/>
            <a:ext cx="411480" cy="411480"/>
          </a:xfrm>
          <a:prstGeom prst="ellipse">
            <a:avLst/>
          </a:prstGeom>
          <a:solidFill>
            <a:srgbClr val="C9A84C"/>
          </a:solidFill>
          <a:ln/>
        </p:spPr>
      </p:sp>
      <p:sp>
        <p:nvSpPr>
          <p:cNvPr id="16" name="Text 14"/>
          <p:cNvSpPr/>
          <p:nvPr/>
        </p:nvSpPr>
        <p:spPr>
          <a:xfrm>
            <a:off x="5376672" y="19659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0B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800600" y="25146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800600" y="288036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5E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Milk 33 L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5E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Beans 4 kg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5E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Packaging +40%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720840" y="1783080"/>
            <a:ext cx="1828800" cy="2011680"/>
          </a:xfrm>
          <a:prstGeom prst="rect">
            <a:avLst/>
          </a:prstGeom>
          <a:solidFill>
            <a:srgbClr val="1A1510"/>
          </a:solidFill>
          <a:ln w="6350">
            <a:solidFill>
              <a:srgbClr val="C9A84C">
                <a:alpha val="18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434072" y="1965960"/>
            <a:ext cx="411480" cy="411480"/>
          </a:xfrm>
          <a:prstGeom prst="ellipse">
            <a:avLst/>
          </a:prstGeom>
          <a:solidFill>
            <a:srgbClr val="C9A84C"/>
          </a:solidFill>
          <a:ln/>
        </p:spPr>
      </p:sp>
      <p:sp>
        <p:nvSpPr>
          <p:cNvPr id="21" name="Text 19"/>
          <p:cNvSpPr/>
          <p:nvPr/>
        </p:nvSpPr>
        <p:spPr>
          <a:xfrm>
            <a:off x="7434072" y="19659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0B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858000" y="25146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858000" y="288036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5E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click →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5E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emailed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5E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supplier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2450592" y="260604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9A84C"/>
                </a:solidFill>
              </a:rPr>
              <a:t>→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4507992" y="260604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9A84C"/>
                </a:solidFill>
              </a:rPr>
              <a:t>→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6565392" y="260604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9A84C"/>
                </a:solidFill>
              </a:rPr>
              <a:t>→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548640" y="402336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5ED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Inventory updates. Waste falls. Nothing runs out.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E0B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F5ED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This is running right now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931920" cy="2331720"/>
          </a:xfrm>
          <a:prstGeom prst="rect">
            <a:avLst/>
          </a:prstGeom>
          <a:solidFill>
            <a:srgbClr val="1A1510"/>
          </a:solidFill>
          <a:ln w="6350">
            <a:solidFill>
              <a:srgbClr val="C9A84C">
                <a:alpha val="18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9202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⛈  33° / 26°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68680" y="23774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E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Thunderstorm  ·  Rain 86%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68680" y="274320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5ED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309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2331720" y="283464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guests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A8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 delivery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54880" y="1691640"/>
            <a:ext cx="3840480" cy="2331720"/>
          </a:xfrm>
          <a:prstGeom prst="rect">
            <a:avLst/>
          </a:prstGeom>
          <a:solidFill>
            <a:srgbClr val="1A1510"/>
          </a:solidFill>
          <a:ln w="6350">
            <a:solidFill>
              <a:srgbClr val="C9A84C">
                <a:alpha val="18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0" y="18745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 demand shift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29200" y="22860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5E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 Coffee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7040880" y="22860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6FB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44%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029200" y="263347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5E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 Drinks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7040880" y="263347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6FB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40%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029200" y="298094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5E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&amp; Grill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7040880" y="298094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6FB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9%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029200" y="332841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5E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 Coffee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7040880" y="332841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D98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 25%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48640" y="42062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Switch the city from Sunwal to Tokyo on stage. The weather changes. The forecast changes. The order changes.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E0B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F5ED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Everyone records. Nobody acts.</a:t>
            </a:r>
            <a:endParaRPr lang="en-US" sz="3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804672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1645920"/>
                <a:gridCol w="1737360"/>
                <a:gridCol w="155448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34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4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4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4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0B0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8A83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 systems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34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4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4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4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51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8A83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Delivery apps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34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4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4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4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51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9A8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RD Café AI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34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4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4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4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51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5ED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Records what happened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34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4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4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4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51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8A83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34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4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4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4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51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8A83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34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4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4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4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51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9A8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34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4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4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4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51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5ED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Predicts what will happen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34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4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4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4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51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8A83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34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4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4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4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51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8A83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34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4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4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4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51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9A8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34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4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4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4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51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5ED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Orders the stock for you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34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4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4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4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51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8A83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34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4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4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4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51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8A83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34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4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4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4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51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9A8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34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4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4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4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51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5ED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Built for 1–5 person cafés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34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4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4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4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51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8A83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34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4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4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4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51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8A83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34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4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4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4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51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9A8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34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4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4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4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51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5ED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34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4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4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4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51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8A83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¥3–15k/mo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34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4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4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4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51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8A83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30% commission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34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4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4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4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51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9A8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¥5,000/mo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34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4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4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4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510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41148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5ED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Only 22% of Japanese operators use POS analytics for inventory. The rest are flying blind — we don't sell them another dashboard, we sell them a decision already made.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E0B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F5ED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pays for itself on waste alone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2514600" cy="1371600"/>
          </a:xfrm>
          <a:prstGeom prst="rect">
            <a:avLst/>
          </a:prstGeom>
          <a:solidFill>
            <a:srgbClr val="1A1510"/>
          </a:solidFill>
          <a:ln w="6350">
            <a:solidFill>
              <a:srgbClr val="C9A84C">
                <a:alpha val="18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87452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F5ED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¥5,000/mo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731520" y="265176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8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café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310128" y="1737360"/>
            <a:ext cx="2514600" cy="1371600"/>
          </a:xfrm>
          <a:prstGeom prst="rect">
            <a:avLst/>
          </a:prstGeom>
          <a:solidFill>
            <a:srgbClr val="1A1510"/>
          </a:solidFill>
          <a:ln w="6350">
            <a:solidFill>
              <a:srgbClr val="C9A84C">
                <a:alpha val="18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93008" y="187452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493008" y="219456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F5ED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¥15,000/mo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3493008" y="265176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8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 &amp; bar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071616" y="1737360"/>
            <a:ext cx="2514600" cy="1371600"/>
          </a:xfrm>
          <a:prstGeom prst="rect">
            <a:avLst/>
          </a:prstGeom>
          <a:solidFill>
            <a:srgbClr val="1A1510"/>
          </a:solidFill>
          <a:ln w="6350">
            <a:solidFill>
              <a:srgbClr val="C9A84C">
                <a:alpha val="18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54496" y="187452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254496" y="219456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F5ED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¥50,000/mo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6254496" y="265176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8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chains, 2–10 stores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48640" y="3291840"/>
            <a:ext cx="8046720" cy="960120"/>
          </a:xfrm>
          <a:prstGeom prst="rect">
            <a:avLst/>
          </a:prstGeom>
          <a:solidFill>
            <a:srgbClr val="241E15"/>
          </a:solidFill>
          <a:ln w="6350">
            <a:solidFill>
              <a:srgbClr val="C9A84C">
                <a:alpha val="18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" y="3474720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E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café spending ¥300,000/month on ingredients with 8% waste loses ¥24,000. </a:t>
            </a:r>
            <a:pPr indent="0" marL="0">
              <a:buNone/>
            </a:pPr>
            <a:r>
              <a:rPr lang="en-US" sz="1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Cutting waste 30% saves ¥7,200 — the software returns 1.4× its price before a single extra cup is sold.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48640" y="4462272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margin: 80%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E0B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&amp; ENTRY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F5ED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1.46 million cafés, all flying blind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931920" cy="2377440"/>
          </a:xfrm>
          <a:prstGeom prst="rect">
            <a:avLst/>
          </a:prstGeom>
          <a:solidFill>
            <a:srgbClr val="1A1510"/>
          </a:solidFill>
          <a:ln w="6350">
            <a:solidFill>
              <a:srgbClr val="C9A84C">
                <a:alpha val="18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96596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¥120M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868680" y="256032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5E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recurring revenue at just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5E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1% penetration of the reachable market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868680" y="329184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2.15M food establishments in Japan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A8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68% have 1–5 staff  →  1.46M addressable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754880" y="1737360"/>
            <a:ext cx="3840480" cy="2377440"/>
          </a:xfrm>
          <a:prstGeom prst="rect">
            <a:avLst/>
          </a:prstGeom>
          <a:solidFill>
            <a:srgbClr val="1A1510"/>
          </a:solidFill>
          <a:ln w="6350">
            <a:solidFill>
              <a:srgbClr val="C9A84C">
                <a:alpha val="18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74920" y="19202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unfair advantage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74920" y="2286000"/>
            <a:ext cx="32004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E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founder is Nepali, living in Japan.</a:t>
            </a:r>
            <a:endParaRPr lang="en-US" sz="11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A8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Nepali, Indian and Vietnamese-owned restaurants are being hit hardest by this crisis — and no software company is talking to them.</a:t>
            </a:r>
            <a:endParaRPr lang="en-US" sz="11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community is our beachhead.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42519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8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1: our own café, Nepal  →  Phase 2: 20 paid pilots, Tokyo/Kanagawa  →  Phase 3: Osaka, Fukuoka  →  Phase 4: Asia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E0B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F5ED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a concept. A product.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931920" cy="777240"/>
          </a:xfrm>
          <a:prstGeom prst="rect">
            <a:avLst/>
          </a:prstGeom>
          <a:solidFill>
            <a:srgbClr val="1A1510"/>
          </a:solidFill>
          <a:ln w="6350">
            <a:solidFill>
              <a:srgbClr val="C9A84C">
                <a:alpha val="18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920240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234440" y="18745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E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product deployed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234440" y="214884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8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Ordering, payments, admin, analytics — live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48640" y="2651760"/>
            <a:ext cx="3931920" cy="777240"/>
          </a:xfrm>
          <a:prstGeom prst="rect">
            <a:avLst/>
          </a:prstGeom>
          <a:solidFill>
            <a:srgbClr val="1A1510"/>
          </a:solidFill>
          <a:ln w="6350">
            <a:solidFill>
              <a:srgbClr val="C9A84C">
                <a:alpha val="18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2834640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234440" y="27889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E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forecast running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234440" y="306324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8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weather for Sunwal, Kathmandu, Tokyo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48640" y="3566160"/>
            <a:ext cx="3931920" cy="777240"/>
          </a:xfrm>
          <a:prstGeom prst="rect">
            <a:avLst/>
          </a:prstGeom>
          <a:solidFill>
            <a:srgbClr val="1A1510"/>
          </a:solidFill>
          <a:ln w="6350">
            <a:solidFill>
              <a:srgbClr val="C9A84C">
                <a:alpha val="18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3749040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234440" y="37033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E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café as pilot site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234440" y="397764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8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 Café &amp; Bar, Sunwal — customer zero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663440" y="1737360"/>
            <a:ext cx="3931920" cy="777240"/>
          </a:xfrm>
          <a:prstGeom prst="rect">
            <a:avLst/>
          </a:prstGeom>
          <a:solidFill>
            <a:srgbClr val="1A1510"/>
          </a:solidFill>
          <a:ln w="6350">
            <a:solidFill>
              <a:srgbClr val="C9A84C">
                <a:alpha val="18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92040" y="1920240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5349240" y="18745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E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 orders sending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349240" y="214884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8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emails delivered from the forecast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663440" y="2651760"/>
            <a:ext cx="3931920" cy="777240"/>
          </a:xfrm>
          <a:prstGeom prst="rect">
            <a:avLst/>
          </a:prstGeom>
          <a:solidFill>
            <a:srgbClr val="1A1510"/>
          </a:solidFill>
          <a:ln w="6350">
            <a:solidFill>
              <a:srgbClr val="C9A84C">
                <a:alpha val="18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92040" y="2834640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5349240" y="27889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E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tracking live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349240" y="306324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8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Stock, usage, low-stock alerts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663440" y="3566160"/>
            <a:ext cx="3931920" cy="777240"/>
          </a:xfrm>
          <a:prstGeom prst="rect">
            <a:avLst/>
          </a:prstGeom>
          <a:solidFill>
            <a:srgbClr val="1A1510"/>
          </a:solidFill>
          <a:ln w="6350">
            <a:solidFill>
              <a:srgbClr val="C9A84C">
                <a:alpha val="18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92040" y="3749040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5349240" y="37033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E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by one founder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349240" y="397764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8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efficient from day one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48640" y="45262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rd-cafe-bar.vercel.app — open it on your phone right now.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E0B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8A837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one café in Sunwal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8745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i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 every kitchen in Asia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731520" y="288036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E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are asking for mentorship, market access and seed funding to:</a:t>
            </a:r>
            <a:endParaRPr lang="en-US" sz="12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A8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Localize fully for Japan  ·  Run 20 paid pilots in Kanagawa  ·  Train the per-café forecasting model on real order history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31520" y="420624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Rajan Dhakal   ·   rd-cafe-bar.vercel.app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RD Café AI</dc:title>
  <dc:subject>PptxGenJS Presentation</dc:subject>
  <dc:creator>Rajan Dhakal</dc:creator>
  <cp:lastModifiedBy>Rajan Dhakal</cp:lastModifiedBy>
  <cp:revision>1</cp:revision>
  <dcterms:created xsi:type="dcterms:W3CDTF">2026-07-09T06:52:39Z</dcterms:created>
  <dcterms:modified xsi:type="dcterms:W3CDTF">2026-07-09T06:52:39Z</dcterms:modified>
</cp:coreProperties>
</file>